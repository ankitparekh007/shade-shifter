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74a1b673204508" /><Relationship Type="http://schemas.openxmlformats.org/officeDocument/2006/relationships/extended-properties" Target="/docProps/app.xml" Id="R52b4225640a44ca3" /><Relationship Type="http://schemas.openxmlformats.org/officeDocument/2006/relationships/officeDocument" Target="/ppt/presentation.xml" Id="R73275547fab1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ac6cda19594aac"/>
  </p:sldMasterIdLst>
  <p:notesMasterIdLst>
    <p:notesMasterId xmlns:r="http://schemas.openxmlformats.org/officeDocument/2006/relationships" r:id="Rdbb51242ac8749d5"/>
  </p:notesMasterIdLst>
  <p:sldIdLst>
    <p:sldId xmlns:r="http://schemas.openxmlformats.org/officeDocument/2006/relationships" id="256" r:id="R9de4b27721904d51"/>
    <p:sldId xmlns:r="http://schemas.openxmlformats.org/officeDocument/2006/relationships" id="257" r:id="R86d8f8c22a554100"/>
    <p:sldId xmlns:r="http://schemas.openxmlformats.org/officeDocument/2006/relationships" id="258" r:id="Rb4137c064e274d00"/>
    <p:sldId xmlns:r="http://schemas.openxmlformats.org/officeDocument/2006/relationships" id="259" r:id="Rc536ce6cbf5141fe"/>
    <p:sldId xmlns:r="http://schemas.openxmlformats.org/officeDocument/2006/relationships" id="260" r:id="R5153a0ff1b0649a1"/>
    <p:sldId xmlns:r="http://schemas.openxmlformats.org/officeDocument/2006/relationships" id="261" r:id="Rf2f7f288c33048fa"/>
    <p:sldId xmlns:r="http://schemas.openxmlformats.org/officeDocument/2006/relationships" id="262" r:id="R2ab874207f5540e9"/>
    <p:sldId xmlns:r="http://schemas.openxmlformats.org/officeDocument/2006/relationships" id="263" r:id="Rcd94c2e118c644c5"/>
    <p:sldId xmlns:r="http://schemas.openxmlformats.org/officeDocument/2006/relationships" id="264" r:id="R016e4590e9d94a27"/>
    <p:sldId xmlns:r="http://schemas.openxmlformats.org/officeDocument/2006/relationships" id="265" r:id="R4d64a3e662b448ed"/>
    <p:sldId xmlns:r="http://schemas.openxmlformats.org/officeDocument/2006/relationships" id="266" r:id="R0d9a923cbea3493d"/>
    <p:sldId xmlns:r="http://schemas.openxmlformats.org/officeDocument/2006/relationships" id="267" r:id="Ra5f84da3f1324f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e53fda1d7e4c7e" /><Relationship Type="http://schemas.openxmlformats.org/officeDocument/2006/relationships/slideMaster" Target="/ppt/slideMasters/slideMaster1.xml" Id="R3eac6cda19594aac" /><Relationship Type="http://schemas.openxmlformats.org/officeDocument/2006/relationships/notesMaster" Target="/ppt/notesMasters/notesMaster1.xml" Id="Rdbb51242ac8749d5" /><Relationship Type="http://schemas.openxmlformats.org/officeDocument/2006/relationships/presProps" Target="/ppt/presProps.xml" Id="R8e7f58f0ad6a461c" /><Relationship Type="http://schemas.openxmlformats.org/officeDocument/2006/relationships/tableStyles" Target="/ppt/tableStyles.xml" Id="Rdd887c977f2d48c9" /><Relationship Type="http://schemas.openxmlformats.org/officeDocument/2006/relationships/slide" Target="/ppt/slides/slide1.xml" Id="R9de4b27721904d51" /><Relationship Type="http://schemas.openxmlformats.org/officeDocument/2006/relationships/slide" Target="/ppt/slides/slide2.xml" Id="R86d8f8c22a554100" /><Relationship Type="http://schemas.openxmlformats.org/officeDocument/2006/relationships/slide" Target="/ppt/slides/slide3.xml" Id="Rb4137c064e274d00" /><Relationship Type="http://schemas.openxmlformats.org/officeDocument/2006/relationships/slide" Target="/ppt/slides/slide4.xml" Id="Rc536ce6cbf5141fe" /><Relationship Type="http://schemas.openxmlformats.org/officeDocument/2006/relationships/slide" Target="/ppt/slides/slide5.xml" Id="R5153a0ff1b0649a1" /><Relationship Type="http://schemas.openxmlformats.org/officeDocument/2006/relationships/slide" Target="/ppt/slides/slide6.xml" Id="Rf2f7f288c33048fa" /><Relationship Type="http://schemas.openxmlformats.org/officeDocument/2006/relationships/slide" Target="/ppt/slides/slide7.xml" Id="R2ab874207f5540e9" /><Relationship Type="http://schemas.openxmlformats.org/officeDocument/2006/relationships/slide" Target="/ppt/slides/slide8.xml" Id="Rcd94c2e118c644c5" /><Relationship Type="http://schemas.openxmlformats.org/officeDocument/2006/relationships/slide" Target="/ppt/slides/slide9.xml" Id="R016e4590e9d94a27" /><Relationship Type="http://schemas.openxmlformats.org/officeDocument/2006/relationships/slide" Target="/ppt/slides/slide10.xml" Id="R4d64a3e662b448ed" /><Relationship Type="http://schemas.openxmlformats.org/officeDocument/2006/relationships/slide" Target="/ppt/slides/slide11.xml" Id="R0d9a923cbea3493d" /><Relationship Type="http://schemas.openxmlformats.org/officeDocument/2006/relationships/slide" Target="/ppt/slides/slide12.xml" Id="Ra5f84da3f1324f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a16d835d8f49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16abdb15d443c7" /><Relationship Type="http://schemas.openxmlformats.org/officeDocument/2006/relationships/notesMaster" Target="/ppt/notesMasters/notesMaster1.xml" Id="R411c8adaafa2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50bded6187488e" /><Relationship Type="http://schemas.openxmlformats.org/officeDocument/2006/relationships/notesMaster" Target="/ppt/notesMasters/notesMaster1.xml" Id="Rb36417c8052342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3fb5345c604484" /><Relationship Type="http://schemas.openxmlformats.org/officeDocument/2006/relationships/notesMaster" Target="/ppt/notesMasters/notesMaster1.xml" Id="R4eac4546e9414f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886a10ead34fac" /><Relationship Type="http://schemas.openxmlformats.org/officeDocument/2006/relationships/notesMaster" Target="/ppt/notesMasters/notesMaster1.xml" Id="Rb9fda5a551ee43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60906afceb4574" /><Relationship Type="http://schemas.openxmlformats.org/officeDocument/2006/relationships/notesMaster" Target="/ppt/notesMasters/notesMaster1.xml" Id="Rbe6d362ca0834e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603ed4f7434597" /><Relationship Type="http://schemas.openxmlformats.org/officeDocument/2006/relationships/notesMaster" Target="/ppt/notesMasters/notesMaster1.xml" Id="R3bcfeb5b765742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2f0d48031e472e" /><Relationship Type="http://schemas.openxmlformats.org/officeDocument/2006/relationships/notesMaster" Target="/ppt/notesMasters/notesMaster1.xml" Id="R0785a6bb4f2e45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8fb6d1b22041db" /><Relationship Type="http://schemas.openxmlformats.org/officeDocument/2006/relationships/notesMaster" Target="/ppt/notesMasters/notesMaster1.xml" Id="Racebe2c3120e43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5a2f3763eb4aa2" /><Relationship Type="http://schemas.openxmlformats.org/officeDocument/2006/relationships/notesMaster" Target="/ppt/notesMasters/notesMaster1.xml" Id="R6fcc1f2a569e49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019344072941e9" /><Relationship Type="http://schemas.openxmlformats.org/officeDocument/2006/relationships/notesMaster" Target="/ppt/notesMasters/notesMaster1.xml" Id="R750f23fedb1447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21780161bd4185" /><Relationship Type="http://schemas.openxmlformats.org/officeDocument/2006/relationships/notesMaster" Target="/ppt/notesMasters/notesMaster1.xml" Id="Rfa8affb110514f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b54fdb03c942b1" /><Relationship Type="http://schemas.openxmlformats.org/officeDocument/2006/relationships/notesMaster" Target="/ppt/notesMasters/notesMaster1.xml" Id="R7d89e7d9cf3a4d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Visual: OpenAI-generated concept image created for Shade Shifter;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Narrative statement based on the product thesis;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features are target-state concepts and remain subject to prototype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Visual: OpenAI-generated lifestyle concept image created for Shade Shifter;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Pair Eyewear — https://paireyewear.com/</a:t>
            </a:r>
          </a:p>
          <a:p xmlns:a="http://schemas.openxmlformats.org/drawingml/2006/main">
            <a:r>
              <a:t>CES Innovation Awards 2025, Chamelo Aura — https://www.ces.tech/ces-innovation-awards/2025/aura-the-world-s-first-color-changing-glasses/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Lenskart Q3 FY26 shareholder letter — https://assets.lenskart.com/documents/2026/02/11/Reg30-ShareholderLetter.pdf</a:t>
            </a:r>
          </a:p>
          <a:p xmlns:a="http://schemas.openxmlformats.org/drawingml/2006/main">
            <a:r>
              <a:t>Retail price is Shade Shifter's current planning target, not a market fact.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Prototype strategy from Shade Shifter research-analysis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Budget and schedule are planning estimates from Shade Shifter's research and POC blueprint; vendor quotes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Pricing and revenue paths are Shade Shifter planning assumptions; no revenue has been generated.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GTM sequence is Shade Shifter's current strategic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Raise amount and use of funds are proposed planning figures and should be finalized by the founder before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e28653d6e45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0d3f2006f46dd" /><Relationship Type="http://schemas.openxmlformats.org/officeDocument/2006/relationships/slideLayout" Target="/ppt/slideLayouts/slideLayout1.xml" Id="R40e6c2d8565b48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e6c2d8565b48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fcc285c1f4e99" /><Relationship Type="http://schemas.openxmlformats.org/officeDocument/2006/relationships/image" Target="/ppt/media/image.png" Id="R51e7e9896dd74da6" /><Relationship Type="http://schemas.openxmlformats.org/officeDocument/2006/relationships/notesSlide" Target="/ppt/notesSlides/notesSlide1.xml" Id="R64a975cd62d245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852e432594a08" /><Relationship Type="http://schemas.openxmlformats.org/officeDocument/2006/relationships/notesSlide" Target="/ppt/notesSlides/notesSlide2.xml" Id="R5400946150bb4c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9fa5ba404473a" /><Relationship Type="http://schemas.openxmlformats.org/officeDocument/2006/relationships/notesSlide" Target="/ppt/notesSlides/notesSlide3.xml" Id="Rb2f874a23ef7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0ffc7221d4635" /><Relationship Type="http://schemas.openxmlformats.org/officeDocument/2006/relationships/image" Target="/ppt/media/image2.png" Id="R6c7d3727c5e342a5" /><Relationship Type="http://schemas.openxmlformats.org/officeDocument/2006/relationships/notesSlide" Target="/ppt/notesSlides/notesSlide4.xml" Id="R4faad4f14d0f43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b0eb5f03a4431" /><Relationship Type="http://schemas.openxmlformats.org/officeDocument/2006/relationships/notesSlide" Target="/ppt/notesSlides/notesSlide5.xml" Id="R577c8e6cf77044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bbe4d457e47c0" /><Relationship Type="http://schemas.openxmlformats.org/officeDocument/2006/relationships/notesSlide" Target="/ppt/notesSlides/notesSlide6.xml" Id="R654caecc23f7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1d9a5f5a44d3f" /><Relationship Type="http://schemas.openxmlformats.org/officeDocument/2006/relationships/notesSlide" Target="/ppt/notesSlides/notesSlide7.xml" Id="Rfd105eff68cf4a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41a239088418b" /><Relationship Type="http://schemas.openxmlformats.org/officeDocument/2006/relationships/notesSlide" Target="/ppt/notesSlides/notesSlide8.xml" Id="R97d8528c61854d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8c14feaeb4e9d" /><Relationship Type="http://schemas.openxmlformats.org/officeDocument/2006/relationships/notesSlide" Target="/ppt/notesSlides/notesSlide9.xml" Id="R07f538be0dfd4f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2a5663fd44340" /><Relationship Type="http://schemas.openxmlformats.org/officeDocument/2006/relationships/notesSlide" Target="/ppt/notesSlides/notesSlide10.xml" Id="R641ee3a8c20e42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ff39de7014d19" /><Relationship Type="http://schemas.openxmlformats.org/officeDocument/2006/relationships/notesSlide" Target="/ppt/notesSlides/notesSlide11.xml" Id="R8ace85f041b941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7e0ec92484110" /><Relationship Type="http://schemas.openxmlformats.org/officeDocument/2006/relationships/notesSlide" Target="/ppt/notesSlides/notesSlide12.xml" Id="Refa43252431247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7e9896dd74da6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9F82D-EC39-433B-BC73-D5343438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oundRect">
            <a:avLst>
              <a:gd name="adj" fmla="val 1667"/>
            </a:avLst>
          </a:prstGeom>
          <a:gradFill xmlns:a="http://schemas.openxmlformats.org/drawingml/2006/main">
            <a:gsLst>
              <a:gs pos="0">
                <a:srgbClr val="09090B"/>
              </a:gs>
              <a:gs pos="70000">
                <a:srgbClr val="09090B"/>
              </a:gs>
              <a:gs pos="100000">
                <a:srgbClr val="09090B">
                  <a:alpha val="0"/>
                </a:srgbClr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79401-07D8-4E93-AEEE-EAD2313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INVESTOR PRESENTATION •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949EB-4246-4058-A287-49564E74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8F7F4"/>
                </a:solidFill>
              </a:defRPr>
            </a:pPr>
            <a:r>
              <a:rPr sz="5400" b="1">
                <a:solidFill>
                  <a:srgbClr val="F8F7F4"/>
                </a:solidFill>
              </a:rPr>
              <a:t>SHADE</a:t>
            </a:r>
          </a:p>
          <a:p xmlns:a="http://schemas.openxmlformats.org/drawingml/2006/main">
            <a:pPr algn="l">
              <a:defRPr sz="5400" b="1">
                <a:solidFill>
                  <a:srgbClr val="F8F7F4"/>
                </a:solidFill>
              </a:defRPr>
            </a:pPr>
            <a:r>
              <a:rPr sz="5400" b="1">
                <a:solidFill>
                  <a:srgbClr val="F8F7F4"/>
                </a:solidFill>
              </a:rPr>
              <a:t>SHIFTER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EBCBF-8FF8-41D8-9858-787F1D62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DFF5"/>
                </a:solidFill>
              </a:defRPr>
            </a:pPr>
            <a:r>
              <a:rPr sz="2025" b="0">
                <a:solidFill>
                  <a:srgbClr val="59DFF5"/>
                </a:solidFill>
              </a:rPr>
              <a:t>One frame. Every version of you.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EF510-F692-4EFF-8ED0-C513A45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6929D"/>
                </a:solidFill>
              </a:defRPr>
            </a:pPr>
            <a:r>
              <a:rPr sz="1350" b="0">
                <a:solidFill>
                  <a:srgbClr val="96929D"/>
                </a:solidFill>
              </a:rPr>
              <a:t>App-controlled eyewear that changes frame color on demand.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98A61-1C55-4913-82EA-2437ADD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25053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F604B2-6DB3-4F29-9F0F-35C08D43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THE OVERLOOKED CONSTANT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E925B-BF50-4C23-977F-46DE2898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A6A63-408B-4683-B94D-7C5655E0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8F7F4"/>
                </a:solidFill>
              </a:defRPr>
            </a:pPr>
            <a:r>
              <a:rPr sz="3375" b="0">
                <a:solidFill>
                  <a:srgbClr val="F8F7F4"/>
                </a:solidFill>
              </a:rPr>
              <a:t>Eyewear is worn every day—yet its identity stays fixed.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F9448-285D-4CA2-A1E1-E6F1C99B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6929D"/>
                </a:solidFill>
              </a:defRPr>
            </a:pPr>
            <a:r>
              <a:rPr sz="1350" b="0">
                <a:solidFill>
                  <a:srgbClr val="96929D"/>
                </a:solidFill>
              </a:rPr>
              <a:t>People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13D06-D14E-4346-A89A-74D000BD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8F7F4"/>
                </a:solidFill>
              </a:defRPr>
            </a:pPr>
            <a:r>
              <a:rPr sz="2550" b="0">
                <a:solidFill>
                  <a:srgbClr val="F8F7F4"/>
                </a:solidFill>
              </a:rPr>
              <a:t>clothes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79667-4D56-4FDC-AF1C-763AC09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8F7F4"/>
                </a:solidFill>
              </a:defRPr>
            </a:pPr>
            <a:r>
              <a:rPr sz="2550" b="0">
                <a:solidFill>
                  <a:srgbClr val="F8F7F4"/>
                </a:solidFill>
              </a:rPr>
              <a:t>shoes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D39B6-0468-4E62-B060-14F77F9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8F7F4"/>
                </a:solidFill>
              </a:defRPr>
            </a:pPr>
            <a:r>
              <a:rPr sz="2550" b="0">
                <a:solidFill>
                  <a:srgbClr val="F8F7F4"/>
                </a:solidFill>
              </a:rPr>
              <a:t>watch 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31E91-9A1E-48AD-9E41-3AA2D161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28875"/>
            <a:ext cx="190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FD473-D2B3-4A62-86ED-D42B843A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7F4"/>
                </a:solidFill>
              </a:defRPr>
            </a:pPr>
            <a:r>
              <a:rPr sz="2100" b="0">
                <a:solidFill>
                  <a:srgbClr val="F8F7F4"/>
                </a:solidFill>
              </a:rPr>
              <a:t>But eyewear—the object sitting at the center of the face—still requires another physical frame to change the look.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EF3AE-2CC8-40BC-AAD1-56B51E46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C55C7"/>
                </a:solidFill>
              </a:defRPr>
            </a:pPr>
            <a:r>
              <a:rPr sz="1350" b="1">
                <a:solidFill>
                  <a:srgbClr val="EC55C7"/>
                </a:solidFill>
              </a:rPr>
              <a:t>The category solved vision. It has not solved self-expression.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4ED21-6637-43D1-8F5D-6BE2F802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7DB27-2FB9-4885-899F-6655777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4271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02025F-409D-4BBE-8278-CC11E009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55E44-3DFC-4051-9D5E-E1D43798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8C39A-518A-45F0-90A5-EE25942D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111116"/>
                </a:solidFill>
              </a:defRPr>
            </a:pPr>
            <a:r>
              <a:rPr sz="3750" b="0">
                <a:solidFill>
                  <a:srgbClr val="111116"/>
                </a:solidFill>
              </a:rPr>
              <a:t>One frame becomes a wardrobe.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CB1CF-8487-4CFF-B9F6-7A1767F1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3F6AB-1C6A-4003-A453-B25A0477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6"/>
                </a:solidFill>
              </a:defRPr>
            </a:pPr>
            <a:r>
              <a:rPr sz="2250" b="1">
                <a:solidFill>
                  <a:srgbClr val="111116"/>
                </a:solidFill>
              </a:rPr>
              <a:t>CHOOSE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E2F04-B6A8-4726-A553-872E2F47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973"/>
                </a:solidFill>
              </a:defRPr>
            </a:pPr>
            <a:r>
              <a:rPr sz="1275" b="0">
                <a:solidFill>
                  <a:srgbClr val="6E6973"/>
                </a:solidFill>
              </a:rPr>
              <a:t>A curated solid, shade or gradient in the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82779-FDD5-45EB-B1F4-29F3E49C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857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09F58-E704-4EAB-8B19-1A088C25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E8D2D-D09E-4456-BC73-6BCAC026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43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6"/>
                </a:solidFill>
              </a:defRPr>
            </a:pPr>
            <a:r>
              <a:rPr sz="2250" b="1">
                <a:solidFill>
                  <a:srgbClr val="111116"/>
                </a:solidFill>
              </a:rPr>
              <a:t>SHIFT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10BB1-96F1-4804-A8AF-1A6D59B9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973"/>
                </a:solidFill>
              </a:defRPr>
            </a:pPr>
            <a:r>
              <a:rPr sz="1275" b="0">
                <a:solidFill>
                  <a:srgbClr val="6E6973"/>
                </a:solidFill>
              </a:rPr>
              <a:t>Frame zones coordinate over Bluetooth.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22DBE-B054-4BB4-A223-D387AC71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29125"/>
            <a:ext cx="2857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55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DF685-3D85-496D-A04F-C342E7B1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1AB9F-C8B9-40F5-B138-C0A49F9E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6"/>
                </a:solidFill>
              </a:defRPr>
            </a:pPr>
            <a:r>
              <a:rPr sz="2250" b="1">
                <a:solidFill>
                  <a:srgbClr val="111116"/>
                </a:solidFill>
              </a:rPr>
              <a:t>WEAR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5E2E9-08D0-43C4-B704-8B4424FA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973"/>
                </a:solidFill>
              </a:defRPr>
            </a:pPr>
            <a:r>
              <a:rPr sz="1275" b="0">
                <a:solidFill>
                  <a:srgbClr val="6E6973"/>
                </a:solidFill>
              </a:rPr>
              <a:t>Prescription-compatible lenses stay conventional.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13512-5E0F-4538-8E57-B6EBFD7C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29125"/>
            <a:ext cx="2857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D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09648-8DFB-4148-8AE9-DBC6669B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6"/>
                </a:solidFill>
              </a:defRPr>
            </a:pPr>
            <a:r>
              <a:rPr sz="2100" b="0">
                <a:solidFill>
                  <a:srgbClr val="111116"/>
                </a:solidFill>
              </a:rPr>
              <a:t>No clips. No interchangeable shells. No compromise to the lens.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E2304-19EE-4184-A464-C710F7D6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78624-5DFD-42D2-B26B-38B19201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9524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d3727c5e342a5"/>
          <a:srcRect xmlns:a="http://schemas.openxmlformats.org/drawingml/2006/main" l="5311" t="0" r="53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053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49605-7957-4C07-962C-556EDF5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524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THE EMOTIONAL PAYOFF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83B81-F0DB-4B14-975E-09FBEF52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91440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330E4-FFB5-46A4-A477-7738015F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257300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F8F7F4"/>
                </a:solidFill>
              </a:defRPr>
            </a:pPr>
            <a:r>
              <a:rPr sz="3675" b="0">
                <a:solidFill>
                  <a:srgbClr val="F8F7F4"/>
                </a:solidFill>
              </a:rPr>
              <a:t>Match the moment,</a:t>
            </a:r>
          </a:p>
          <a:p xmlns:a="http://schemas.openxmlformats.org/drawingml/2006/main">
            <a:pPr algn="l">
              <a:defRPr sz="3675" b="0">
                <a:solidFill>
                  <a:srgbClr val="F8F7F4"/>
                </a:solidFill>
              </a:defRPr>
            </a:pPr>
            <a:r>
              <a:rPr sz="3675" b="0">
                <a:solidFill>
                  <a:srgbClr val="F8F7F4"/>
                </a:solidFill>
              </a:rPr>
              <a:t>not the inventory.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2E57A-C0EF-4B1C-A74F-56F0FFE9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861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6929D"/>
                </a:solidFill>
              </a:defRPr>
            </a:pPr>
            <a:r>
              <a:rPr sz="1575" b="0">
                <a:solidFill>
                  <a:srgbClr val="96929D"/>
                </a:solidFill>
              </a:rPr>
              <a:t>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95DC6-D74C-44E6-802F-A0A75A23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7F4"/>
                </a:solidFill>
              </a:defRPr>
            </a:pPr>
            <a:r>
              <a:rPr sz="1575" b="0">
                <a:solidFill>
                  <a:srgbClr val="F8F7F4"/>
                </a:solidFill>
              </a:rPr>
              <a:t>→ quiet graphite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91A29-9293-47BE-8311-96D60842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766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6929D"/>
                </a:solidFill>
              </a:defRPr>
            </a:pPr>
            <a:r>
              <a:rPr sz="1575" b="0">
                <a:solidFill>
                  <a:srgbClr val="96929D"/>
                </a:solidFill>
              </a:rPr>
              <a:t>Dinner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90089-08FA-40FE-BBEF-F228B79B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76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7F4"/>
                </a:solidFill>
              </a:defRPr>
            </a:pPr>
            <a:r>
              <a:rPr sz="1575" b="0">
                <a:solidFill>
                  <a:srgbClr val="F8F7F4"/>
                </a:solidFill>
              </a:rPr>
              <a:t>→ deep ultraviolet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52CE0-F23F-422F-A60C-A28939BA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672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6929D"/>
                </a:solidFill>
              </a:defRPr>
            </a:pPr>
            <a:r>
              <a:rPr sz="1575" b="0">
                <a:solidFill>
                  <a:srgbClr val="96929D"/>
                </a:solidFill>
              </a:rPr>
              <a:t>Festival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D9294-81F6-4F13-89E4-6AB271C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672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7F4"/>
                </a:solidFill>
              </a:defRPr>
            </a:pPr>
            <a:r>
              <a:rPr sz="1575" b="0">
                <a:solidFill>
                  <a:srgbClr val="F8F7F4"/>
                </a:solidFill>
              </a:rPr>
              <a:t>→ electric gradient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C5C48-73E5-4958-BDF8-76E1914F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505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DFF5"/>
                </a:solidFill>
              </a:defRPr>
            </a:pPr>
            <a:r>
              <a:rPr sz="1350" b="1">
                <a:solidFill>
                  <a:srgbClr val="59DFF5"/>
                </a:solidFill>
              </a:rPr>
              <a:t>A functional device becomes a daily fashion platform.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67F98-CD8C-4B2D-AA95-A17811F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9BD6B-49BD-427E-A3C9-52FDCAA7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9694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734DB-712A-4CB2-BCF8-E445807B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THE MARKET WHITESPACE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C9312-E152-44B7-8EEF-514C08C9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7E8A6-0653-47C3-B41A-870BB767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F8F7F4"/>
                </a:solidFill>
              </a:defRPr>
            </a:pPr>
            <a:r>
              <a:rPr sz="3225" b="0">
                <a:solidFill>
                  <a:srgbClr val="F8F7F4"/>
                </a:solidFill>
              </a:rPr>
              <a:t>Existing winners validate the behavior—not our exact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84A79-E3F6-46C7-8385-0F88AD01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6929D"/>
                </a:solidFill>
              </a:defRPr>
            </a:pPr>
            <a:r>
              <a:rPr sz="900" b="1">
                <a:solidFill>
                  <a:srgbClr val="96929D"/>
                </a:solidFill>
              </a:rPr>
              <a:t>PAIR EYEWEAR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15645-A495-402F-9130-148D45E1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7F4"/>
                </a:solidFill>
              </a:defRPr>
            </a:pPr>
            <a:r>
              <a:rPr sz="2100" b="0">
                <a:solidFill>
                  <a:srgbClr val="F8F7F4"/>
                </a:solidFill>
              </a:rPr>
              <a:t>People want to change</a:t>
            </a:r>
          </a:p>
          <a:p xmlns:a="http://schemas.openxmlformats.org/drawingml/2006/main">
            <a:pPr algn="l">
              <a:defRPr sz="2100" b="0">
                <a:solidFill>
                  <a:srgbClr val="F8F7F4"/>
                </a:solidFill>
              </a:defRPr>
            </a:pPr>
            <a:r>
              <a:rPr sz="2100" b="0">
                <a:solidFill>
                  <a:srgbClr val="F8F7F4"/>
                </a:solidFill>
              </a:rPr>
              <a:t>frame appearance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7DFF2-45F7-4BC1-B997-0AEB5917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29D"/>
                </a:solidFill>
              </a:defRPr>
            </a:pPr>
            <a:r>
              <a:rPr sz="1050" b="0">
                <a:solidFill>
                  <a:srgbClr val="96929D"/>
                </a:solidFill>
              </a:rPr>
              <a:t>Physical magnetic overlays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7EE84-74A8-4189-AFF8-854B2173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6929D"/>
                </a:solidFill>
              </a:defRPr>
            </a:pPr>
            <a:r>
              <a:rPr sz="900" b="1">
                <a:solidFill>
                  <a:srgbClr val="96929D"/>
                </a:solidFill>
              </a:rPr>
              <a:t>CHAMELO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E8AB3-41A1-4F87-8B15-AD6F5C83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7F4"/>
                </a:solidFill>
              </a:defRPr>
            </a:pPr>
            <a:r>
              <a:rPr sz="2100" b="0">
                <a:solidFill>
                  <a:srgbClr val="F8F7F4"/>
                </a:solidFill>
              </a:rPr>
              <a:t>Electronic eyewear</a:t>
            </a:r>
          </a:p>
          <a:p xmlns:a="http://schemas.openxmlformats.org/drawingml/2006/main">
            <a:pPr algn="l">
              <a:defRPr sz="2100" b="0">
                <a:solidFill>
                  <a:srgbClr val="F8F7F4"/>
                </a:solidFill>
              </a:defRPr>
            </a:pPr>
            <a:r>
              <a:rPr sz="2100" b="0">
                <a:solidFill>
                  <a:srgbClr val="F8F7F4"/>
                </a:solidFill>
              </a:rPr>
              <a:t>can attract attention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725CB-4A28-493D-A30B-64B579E2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29D"/>
                </a:solidFill>
              </a:defRPr>
            </a:pPr>
            <a:r>
              <a:rPr sz="1050" b="0">
                <a:solidFill>
                  <a:srgbClr val="96929D"/>
                </a:solidFill>
              </a:rPr>
              <a:t>Color-changing lenses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88966-A105-4F03-B404-E4368D0A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A1525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3488C-E78C-4637-BF27-1699C705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DFF5"/>
                </a:solidFill>
              </a:defRPr>
            </a:pPr>
            <a:r>
              <a:rPr sz="900" b="1">
                <a:solidFill>
                  <a:srgbClr val="59DFF5"/>
                </a:solidFill>
              </a:rPr>
              <a:t>SHADE SHIFTER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C6E64-C5F9-4039-BDDB-DCEE917D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8F7F4"/>
                </a:solidFill>
              </a:defRPr>
            </a:pPr>
            <a:r>
              <a:rPr sz="2250" b="0">
                <a:solidFill>
                  <a:srgbClr val="F8F7F4"/>
                </a:solidFill>
              </a:rPr>
              <a:t>The frame body</a:t>
            </a:r>
          </a:p>
          <a:p xmlns:a="http://schemas.openxmlformats.org/drawingml/2006/main">
            <a:pPr algn="l">
              <a:defRPr sz="2250" b="0">
                <a:solidFill>
                  <a:srgbClr val="F8F7F4"/>
                </a:solidFill>
              </a:defRPr>
            </a:pPr>
            <a:r>
              <a:rPr sz="2250" b="0">
                <a:solidFill>
                  <a:srgbClr val="F8F7F4"/>
                </a:solidFill>
              </a:rPr>
              <a:t>changes digitally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7B12F-5760-444D-B6C6-54BC7CD0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29D"/>
                </a:solidFill>
              </a:defRPr>
            </a:pPr>
            <a:r>
              <a:rPr sz="1050" b="0">
                <a:solidFill>
                  <a:srgbClr val="96929D"/>
                </a:solidFill>
              </a:rPr>
              <a:t>Prescription-compatible • seamless • app-controlled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71336-AA8E-46B7-9ED2-453F0BA3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C55C7"/>
                </a:solidFill>
              </a:defRPr>
            </a:pPr>
            <a:r>
              <a:rPr sz="1875" b="1">
                <a:solidFill>
                  <a:srgbClr val="EC55C7"/>
                </a:solidFill>
              </a:rPr>
              <a:t>Our opening: own the recolorable frame category before it becomes obvious.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838A5-77B7-458C-ADA5-A6A3A094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953A1-CA5F-4B32-A769-18120522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4193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E3CFD-3479-45C8-8CAA-23BB05BE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INDIA-FIRST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E46D7-5CFD-4D5E-88AC-330B1C31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B9836-BB00-4E6C-946A-487EB402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111116"/>
                </a:solidFill>
              </a:defRPr>
            </a:pPr>
            <a:r>
              <a:rPr sz="3300" b="0">
                <a:solidFill>
                  <a:srgbClr val="111116"/>
                </a:solidFill>
              </a:rPr>
              <a:t>A large need, a visible product and a digital-native buyer.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E7A82-EAA6-42E3-8790-2852A0D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8B5CF6"/>
                </a:solidFill>
              </a:defRPr>
            </a:pPr>
            <a:r>
              <a:rPr sz="3225" b="0">
                <a:solidFill>
                  <a:srgbClr val="8B5CF6"/>
                </a:solidFill>
              </a:rPr>
              <a:t>500M+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4E720-8B24-4E21-BF6D-F5AB6474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64149"/>
                </a:solidFill>
              </a:defRPr>
            </a:pPr>
            <a:r>
              <a:rPr sz="1500" b="0">
                <a:solidFill>
                  <a:srgbClr val="464149"/>
                </a:solidFill>
              </a:rPr>
              <a:t>people in India need vision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A5565-FA85-484F-9F07-1794ACAF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C03FA0"/>
                </a:solidFill>
              </a:defRPr>
            </a:pPr>
            <a:r>
              <a:rPr sz="3225" b="0">
                <a:solidFill>
                  <a:srgbClr val="C03FA0"/>
                </a:solidFill>
              </a:rPr>
              <a:t>₹79K 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EAEA8-4CDB-4431-BAF6-0F1A6DC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64149"/>
                </a:solidFill>
              </a:defRPr>
            </a:pPr>
            <a:r>
              <a:rPr sz="1500" b="0">
                <a:solidFill>
                  <a:srgbClr val="464149"/>
                </a:solidFill>
              </a:rPr>
              <a:t>reported India eyewear market opportunity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596DF-00A9-43CD-BB27-8B791CAC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67A88"/>
                </a:solidFill>
              </a:defRPr>
            </a:pPr>
            <a:r>
              <a:rPr sz="3225" b="0">
                <a:solidFill>
                  <a:srgbClr val="167A88"/>
                </a:solidFill>
              </a:rPr>
              <a:t>₹14,999–₹19,999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8C897-7BA5-4BE1-93C5-5473539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64149"/>
                </a:solidFill>
              </a:defRPr>
            </a:pPr>
            <a:r>
              <a:rPr sz="1500" b="0">
                <a:solidFill>
                  <a:srgbClr val="464149"/>
                </a:solidFill>
              </a:rPr>
              <a:t>target flagship retail 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AB0D0-F370-4B19-A423-DE4B9233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6"/>
                </a:solidFill>
              </a:defRPr>
            </a:pPr>
            <a:r>
              <a:rPr sz="1350" b="1">
                <a:solidFill>
                  <a:srgbClr val="111116"/>
                </a:solidFill>
              </a:rPr>
              <a:t>The launch wedge is premium, fashion-forward and prescription-compatible—not mass-market electronics.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4E1D7-7D59-4F8D-97C8-AAE2496A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946B0-E48A-45BA-80C3-F040F267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19282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C64E4-EB7D-4BB4-A5ED-9A73B8DB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DE-RISKING THE HARD PART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7D6C0-02A0-4498-A6DF-526720B0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C8890-BED6-40FD-B58E-8C46275C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F8F7F4"/>
                </a:solidFill>
              </a:defRPr>
            </a:pPr>
            <a:r>
              <a:rPr sz="3375" b="0">
                <a:solidFill>
                  <a:srgbClr val="F8F7F4"/>
                </a:solidFill>
              </a:rPr>
              <a:t>Two prototypes answer two different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1E55B-ED04-46B6-9AA3-467C7311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76250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17141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CBC18-3C78-451F-9BD3-761E9116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EXPERIENCE POC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23A57-8DA5-4DE1-9B3E-AD89B7E7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8F7F4"/>
                </a:solidFill>
              </a:defRPr>
            </a:pPr>
            <a:r>
              <a:rPr sz="2400" b="0">
                <a:solidFill>
                  <a:srgbClr val="F8F7F4"/>
                </a:solidFill>
              </a:rPr>
              <a:t>Can customers feel</a:t>
            </a:r>
          </a:p>
          <a:p xmlns:a="http://schemas.openxmlformats.org/drawingml/2006/main">
            <a:pPr algn="l">
              <a:defRPr sz="2400" b="0">
                <a:solidFill>
                  <a:srgbClr val="F8F7F4"/>
                </a:solidFill>
              </a:defRPr>
            </a:pPr>
            <a:r>
              <a:rPr sz="2400" b="0">
                <a:solidFill>
                  <a:srgbClr val="F8F7F4"/>
                </a:solidFill>
              </a:rPr>
              <a:t>the magic?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68071-21D6-4260-9818-700D663B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29D"/>
                </a:solidFill>
              </a:defRPr>
            </a:pPr>
            <a:r>
              <a:rPr sz="1200" b="0">
                <a:solidFill>
                  <a:srgbClr val="96929D"/>
                </a:solidFill>
              </a:rPr>
              <a:t>RGB + light guide • BLE app • solids and gradients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57E58-9C83-4C80-A3B7-3921D4E0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76250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111A1D"/>
          </a:solidFill>
          <a:ln xmlns:a="http://schemas.openxmlformats.org/drawingml/2006/main" w="9525">
            <a:solidFill>
              <a:srgbClr val="59DF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68FE6-41F1-4A9D-8E25-4F7CABB7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DFF5"/>
                </a:solidFill>
              </a:defRPr>
            </a:pPr>
            <a:r>
              <a:rPr sz="825" b="1">
                <a:solidFill>
                  <a:srgbClr val="59DFF5"/>
                </a:solidFill>
              </a:rPr>
              <a:t>MATERIAL POC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17AD8-9ACC-4DD8-867D-DA6B7031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8F7F4"/>
                </a:solidFill>
              </a:defRPr>
            </a:pPr>
            <a:r>
              <a:rPr sz="2400" b="0">
                <a:solidFill>
                  <a:srgbClr val="F8F7F4"/>
                </a:solidFill>
              </a:rPr>
              <a:t>Can the frame become</a:t>
            </a:r>
          </a:p>
          <a:p xmlns:a="http://schemas.openxmlformats.org/drawingml/2006/main">
            <a:pPr algn="l">
              <a:defRPr sz="2400" b="0">
                <a:solidFill>
                  <a:srgbClr val="F8F7F4"/>
                </a:solidFill>
              </a:defRPr>
            </a:pPr>
            <a:r>
              <a:rPr sz="2400" b="0">
                <a:solidFill>
                  <a:srgbClr val="F8F7F4"/>
                </a:solidFill>
              </a:rPr>
              <a:t>a premium product?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C7576-4442-454C-B6FD-DBAFEFDE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29D"/>
                </a:solidFill>
              </a:defRPr>
            </a:pPr>
            <a:r>
              <a:rPr sz="1200" b="0">
                <a:solidFill>
                  <a:srgbClr val="96929D"/>
                </a:solidFill>
              </a:rPr>
              <a:t>Reflective color • curvature • sweat • UV • cycle life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2BA6D-A8DB-41CF-9DF0-6D223629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55C7"/>
                </a:solidFill>
              </a:defRPr>
            </a:pPr>
            <a:r>
              <a:rPr sz="1500" b="1">
                <a:solidFill>
                  <a:srgbClr val="EC55C7"/>
                </a:solidFill>
              </a:rPr>
              <a:t>The LED build proves the experience. It does not predetermine production architecture.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202EE-D9A8-465B-B7EC-B28C183A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DB12C-EE23-4001-9C75-57BD09B3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2585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DF4963-A412-40F9-BB96-712C4F05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12-WEEK PROOF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A7DB0-1701-4C43-8B2C-99196166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22B19-222B-483C-81ED-B5FE5B55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F8F7F4"/>
                </a:solidFill>
              </a:defRPr>
            </a:pPr>
            <a:r>
              <a:rPr sz="3450" b="0">
                <a:solidFill>
                  <a:srgbClr val="F8F7F4"/>
                </a:solidFill>
              </a:rPr>
              <a:t>Spend grows only when evidence does.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2E643-7639-4DF3-9264-755114F7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A74FD-4EA0-40C0-99A7-911BB40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CA347-06BA-4DEC-8094-7E37CDAC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W0–2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EBA54-6C2E-414D-B2BA-626A6D20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7F4"/>
                </a:solidFill>
              </a:defRPr>
            </a:pPr>
            <a:r>
              <a:rPr sz="1425" b="1">
                <a:solidFill>
                  <a:srgbClr val="F8F7F4"/>
                </a:solidFill>
              </a:rPr>
              <a:t>DESIRABILITY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10B11-9DE9-4C25-BB13-FECC2598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929D"/>
                </a:solidFill>
              </a:defRPr>
            </a:pPr>
            <a:r>
              <a:rPr sz="1125" b="0">
                <a:solidFill>
                  <a:srgbClr val="96929D"/>
                </a:solidFill>
              </a:rPr>
              <a:t>Landing test + interviews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F8C87-2DB1-40CA-A0D5-F39A8E99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8F7F4"/>
                </a:solidFill>
              </a:defRPr>
            </a:pPr>
            <a:r>
              <a:rPr sz="1875" b="0">
                <a:solidFill>
                  <a:srgbClr val="F8F7F4"/>
                </a:solidFill>
              </a:rPr>
              <a:t>₹0.5–1.5L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26EB6-D8EE-4C1B-A0A8-29E13900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2AAD1-3BB4-4331-B8AD-F6D4D9C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57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W3–5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3AEBC-05F0-431B-B714-25CDE0CF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7F4"/>
                </a:solidFill>
              </a:defRPr>
            </a:pPr>
            <a:r>
              <a:rPr sz="1425" b="1">
                <a:solidFill>
                  <a:srgbClr val="F8F7F4"/>
                </a:solidFill>
              </a:rPr>
              <a:t>BENCH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8C988-23A0-489B-A4AB-C85EE0F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6712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929D"/>
                </a:solidFill>
              </a:defRPr>
            </a:pPr>
            <a:r>
              <a:rPr sz="1125" b="0">
                <a:solidFill>
                  <a:srgbClr val="96929D"/>
                </a:solidFill>
              </a:rPr>
              <a:t>USB-powered BLE color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A24CB-1E22-43F2-99A5-10F0061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8F7F4"/>
                </a:solidFill>
              </a:defRPr>
            </a:pPr>
            <a:r>
              <a:rPr sz="1875" b="0">
                <a:solidFill>
                  <a:srgbClr val="F8F7F4"/>
                </a:solidFill>
              </a:rPr>
              <a:t>₹1–2L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AFB6D-242E-477D-BF19-0ED67EC3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D3432-A73C-41CB-A138-935F807D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W6–9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22C89-4862-4626-A228-21B68EED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7F4"/>
                </a:solidFill>
              </a:defRPr>
            </a:pPr>
            <a:r>
              <a:rPr sz="1425" b="1">
                <a:solidFill>
                  <a:srgbClr val="F8F7F4"/>
                </a:solidFill>
              </a:rPr>
              <a:t>WEARABLE ALPHA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51371-181E-4C53-8467-18A6CF6B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929D"/>
                </a:solidFill>
              </a:defRPr>
            </a:pPr>
            <a:r>
              <a:rPr sz="1125" b="0">
                <a:solidFill>
                  <a:srgbClr val="96929D"/>
                </a:solidFill>
              </a:rPr>
              <a:t>Fit print + safe electronics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A2889-B00C-44DF-91F2-92F9EF34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8F7F4"/>
                </a:solidFill>
              </a:defRPr>
            </a:pPr>
            <a:r>
              <a:rPr sz="1875" b="0">
                <a:solidFill>
                  <a:srgbClr val="F8F7F4"/>
                </a:solidFill>
              </a:rPr>
              <a:t>₹3–6L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4CE54-49DF-4AE1-AA84-153E0897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25A2C-AF0C-4E45-BA42-A3B7D8DC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57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W10–12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16F2A-7943-4E27-B66D-D5A69F1E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7F4"/>
                </a:solidFill>
              </a:defRPr>
            </a:pPr>
            <a:r>
              <a:rPr sz="1425" b="1">
                <a:solidFill>
                  <a:srgbClr val="F8F7F4"/>
                </a:solidFill>
              </a:rPr>
              <a:t>INVESTOR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1B150-8C38-4ED8-87ED-865FEBD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6712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929D"/>
                </a:solidFill>
              </a:defRPr>
            </a:pPr>
            <a:r>
              <a:rPr sz="1125" b="0">
                <a:solidFill>
                  <a:srgbClr val="96929D"/>
                </a:solidFill>
              </a:rPr>
              <a:t>3 units + evidence pack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57C2B-0156-47EF-BFDA-115FB92A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8F7F4"/>
                </a:solidFill>
              </a:defRPr>
            </a:pPr>
            <a:r>
              <a:rPr sz="1875" b="0">
                <a:solidFill>
                  <a:srgbClr val="F8F7F4"/>
                </a:solidFill>
              </a:rPr>
              <a:t>₹3.5–5.5L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21B05-1F7A-4F2E-9291-350B9C9B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9DFF5"/>
                </a:solidFill>
              </a:defRPr>
            </a:pPr>
            <a:r>
              <a:rPr sz="1800" b="1">
                <a:solidFill>
                  <a:srgbClr val="59DFF5"/>
                </a:solidFill>
              </a:rPr>
              <a:t>Recommended dual-track POC envelope: ₹8–15 lakh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51954-7CBE-4298-A8E2-361CE5D9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96940-8417-4E9B-8444-D80CF478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9791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46E87-0831-49A1-A270-EB7EDA10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55387-56A4-40F4-BF9B-AF6FCEA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18BF4-2AC1-49E0-A930-0F5569A1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111116"/>
                </a:solidFill>
              </a:defRPr>
            </a:pPr>
            <a:r>
              <a:rPr sz="3525" b="0">
                <a:solidFill>
                  <a:srgbClr val="111116"/>
                </a:solidFill>
              </a:rPr>
              <a:t>Premium hardware first. A platform as the moat.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E5FA8-898A-4A96-9323-7EF5AECC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8B5CF6"/>
                </a:solidFill>
              </a:defRPr>
            </a:pPr>
            <a:r>
              <a:rPr sz="3150" b="0">
                <a:solidFill>
                  <a:srgbClr val="8B5CF6"/>
                </a:solidFill>
              </a:rPr>
              <a:t>₹14,999–₹19,999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F7A62-EA98-4988-A37A-37B5DF63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6C76"/>
                </a:solidFill>
              </a:defRPr>
            </a:pPr>
            <a:r>
              <a:rPr sz="1125" b="0">
                <a:solidFill>
                  <a:srgbClr val="716C76"/>
                </a:solidFill>
              </a:rPr>
              <a:t>Target Gen-1 retail 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D02C7-346D-439E-8291-67B49579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6"/>
                </a:solidFill>
              </a:defRPr>
            </a:pPr>
            <a:r>
              <a:rPr sz="2100" b="1">
                <a:solidFill>
                  <a:srgbClr val="111116"/>
                </a:solidFill>
              </a:rPr>
              <a:t>No mandatory subscription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B2E6B-943D-4E87-A411-99DB296C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C76"/>
                </a:solidFill>
              </a:defRPr>
            </a:pPr>
            <a:r>
              <a:rPr sz="1275" b="0">
                <a:solidFill>
                  <a:srgbClr val="716C76"/>
                </a:solidFill>
              </a:rPr>
              <a:t>The product must earn trust as eyewear—not as a recurring-fee gadget.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446B0-E18A-4CF8-9EFD-52307F6E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905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C7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60018-4F27-47EF-B6B6-B8B40A75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6C76"/>
                </a:solidFill>
              </a:defRPr>
            </a:pPr>
            <a:r>
              <a:rPr sz="825" b="1">
                <a:solidFill>
                  <a:srgbClr val="716C76"/>
                </a:solidFill>
              </a:rPr>
              <a:t>EXPANSION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74191-45E9-46D7-B3F2-352D0028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987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6"/>
                </a:solidFill>
              </a:defRPr>
            </a:pPr>
            <a:r>
              <a:rPr sz="1875" b="0">
                <a:solidFill>
                  <a:srgbClr val="111116"/>
                </a:solidFill>
              </a:rPr>
              <a:t>New frame silhouettes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137F0-7C13-4689-9E0C-7E533868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6"/>
                </a:solidFill>
              </a:defRPr>
            </a:pPr>
            <a:r>
              <a:rPr sz="1875" b="0">
                <a:solidFill>
                  <a:srgbClr val="111116"/>
                </a:solidFill>
              </a:rPr>
              <a:t>Limited-edition palettes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54703-7720-4F07-BDB4-ABFA6540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9097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6"/>
                </a:solidFill>
              </a:defRPr>
            </a:pPr>
            <a:r>
              <a:rPr sz="1875" b="0">
                <a:solidFill>
                  <a:srgbClr val="111116"/>
                </a:solidFill>
              </a:rPr>
              <a:t>Designer collaborations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2C767-95D2-425F-97EB-E9B83B9D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815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6"/>
                </a:solidFill>
              </a:defRPr>
            </a:pPr>
            <a:r>
              <a:rPr sz="1875" b="0">
                <a:solidFill>
                  <a:srgbClr val="111116"/>
                </a:solidFill>
              </a:rPr>
              <a:t>Retail + optical partnerships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DEFB7-2F78-4553-90ED-F977A7D7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0242D-9E96-450F-A12B-20B53E8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7190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56E500-57C3-44E4-8255-7324676E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FEA74-5410-4131-8818-0B30776B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359F8-D602-4B93-AC09-758AFB93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F8F7F4"/>
                </a:solidFill>
              </a:defRPr>
            </a:pPr>
            <a:r>
              <a:rPr sz="3300" b="0">
                <a:solidFill>
                  <a:srgbClr val="F8F7F4"/>
                </a:solidFill>
              </a:rPr>
              <a:t>Launch as fashion innovation, distribute as eyewear.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E5850-525E-428A-8421-09F548FD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DFF5"/>
                </a:solidFill>
              </a:defRPr>
            </a:pPr>
            <a:r>
              <a:rPr sz="825" b="1">
                <a:solidFill>
                  <a:srgbClr val="59DFF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C076C-53AA-460A-95A0-D5FF96A7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7F4"/>
                </a:solidFill>
              </a:defRPr>
            </a:pPr>
            <a:r>
              <a:rPr sz="1200" b="1">
                <a:solidFill>
                  <a:srgbClr val="F8F7F4"/>
                </a:solidFill>
              </a:rPr>
              <a:t>CREATE DESIRE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5861B-39E8-4888-945D-6290A469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642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29D"/>
                </a:solidFill>
              </a:defRPr>
            </a:pPr>
            <a:r>
              <a:rPr sz="1200" b="0">
                <a:solidFill>
                  <a:srgbClr val="96929D"/>
                </a:solidFill>
              </a:rPr>
              <a:t>Creator-led demos; color changes tied to outfits and moments.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FE911-7CF9-4E26-A8E7-E9B6B891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810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12DF0-4115-435B-A9D4-9A8059A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52A87-3C24-4A72-8BEA-B53DB78E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7F4"/>
                </a:solidFill>
              </a:defRPr>
            </a:pPr>
            <a:r>
              <a:rPr sz="1200" b="1">
                <a:solidFill>
                  <a:srgbClr val="F8F7F4"/>
                </a:solidFill>
              </a:rPr>
              <a:t>PROVE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83CB5-AA57-4E0C-9B1B-C1D82A0C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38475"/>
            <a:ext cx="642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29D"/>
                </a:solidFill>
              </a:defRPr>
            </a:pPr>
            <a:r>
              <a:rPr sz="1200" b="0">
                <a:solidFill>
                  <a:srgbClr val="96929D"/>
                </a:solidFill>
              </a:rPr>
              <a:t>Pop-ups and optical partners reduce the friction of buying frames.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A550E-278B-43DF-84B1-A762C8D2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9810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FB6CB-5F48-4091-91C7-2F8CD88C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87F03-28C5-4C48-8897-A1274851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7F4"/>
                </a:solidFill>
              </a:defRPr>
            </a:pPr>
            <a:r>
              <a:rPr sz="1200" b="1">
                <a:solidFill>
                  <a:srgbClr val="F8F7F4"/>
                </a:solidFill>
              </a:rPr>
              <a:t>BUILD 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EC0D7-C979-4AC0-935F-545BAF54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642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29D"/>
                </a:solidFill>
              </a:defRPr>
            </a:pPr>
            <a:r>
              <a:rPr sz="1200" b="0">
                <a:solidFill>
                  <a:srgbClr val="96929D"/>
                </a:solidFill>
              </a:rPr>
              <a:t>Prescription compatibility, safety evidence and easy servicing.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6743C-50D8-4D30-B91F-0ED4C5E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810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1E664-DCE3-4355-8787-B844C230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727AD-F243-490D-8755-BDAE5491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7F4"/>
                </a:solidFill>
              </a:defRPr>
            </a:pPr>
            <a:r>
              <a:rPr sz="1200" b="1">
                <a:solidFill>
                  <a:srgbClr val="F8F7F4"/>
                </a:solidFill>
              </a:rPr>
              <a:t>SCALE SELECTIVELY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E5AE0-B804-4B1A-9AF9-7A6D73DD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642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29D"/>
                </a:solidFill>
              </a:defRPr>
            </a:pPr>
            <a:r>
              <a:rPr sz="1200" b="0">
                <a:solidFill>
                  <a:srgbClr val="96929D"/>
                </a:solidFill>
              </a:rPr>
              <a:t>India-first flagship, then design-led global communities.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417C5-E6FB-4AB4-AB77-CFCC14C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98107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7AC91-8FB5-4DF6-83C6-DAFD851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10BBD-4BA5-4893-A92B-6DD1FAF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24013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43B645-4E2B-48F4-96A8-7A4C5CE2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THE RAISE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6BBC8-B866-48B7-A080-0B4ABD1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34C66-902D-40CC-860D-F976EFF8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F8F7F4"/>
                </a:solidFill>
              </a:defRPr>
            </a:pPr>
            <a:r>
              <a:rPr sz="3300" b="0">
                <a:solidFill>
                  <a:srgbClr val="F8F7F4"/>
                </a:solidFill>
              </a:rPr>
              <a:t>Fund the proof that turns a striking idea into a defensible category.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8C74E-B477-471C-9338-4F9841BB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725" b="0">
                <a:solidFill>
                  <a:srgbClr val="59DFF5"/>
                </a:solidFill>
              </a:defRPr>
            </a:pPr>
            <a:r>
              <a:rPr sz="4725" b="0">
                <a:solidFill>
                  <a:srgbClr val="59DFF5"/>
                </a:solidFill>
              </a:rPr>
              <a:t>₹1.5 Cr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1B825-76EC-4677-BDB0-F9EBF23E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PRE-SEED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1D0C7-E192-423F-BFCB-CC4DC3EE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35%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83476-5D20-420B-963F-093D3BE0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62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7F4"/>
                </a:solidFill>
              </a:defRPr>
            </a:pPr>
            <a:r>
              <a:rPr sz="1350" b="0">
                <a:solidFill>
                  <a:srgbClr val="F8F7F4"/>
                </a:solidFill>
              </a:rPr>
              <a:t>Material R&amp;D +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09B40-4311-4EDE-AF5C-8611A569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99613-F11B-4AB4-8E6D-1B2FE9A5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7F4"/>
                </a:solidFill>
              </a:defRPr>
            </a:pPr>
            <a:r>
              <a:rPr sz="1350" b="0">
                <a:solidFill>
                  <a:srgbClr val="F8F7F4"/>
                </a:solidFill>
              </a:rPr>
              <a:t>Wearable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BEC73-87DD-47FC-9B3B-3C7D122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55C7"/>
                </a:solidFill>
              </a:defRPr>
            </a:pPr>
            <a:r>
              <a:rPr sz="1500" b="1">
                <a:solidFill>
                  <a:srgbClr val="EC55C7"/>
                </a:solidFill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67D8A-3E5A-4C1D-99EC-3868E714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7F4"/>
                </a:solidFill>
              </a:defRPr>
            </a:pPr>
            <a:r>
              <a:rPr sz="1350" b="0">
                <a:solidFill>
                  <a:srgbClr val="F8F7F4"/>
                </a:solidFill>
              </a:rPr>
              <a:t>Industrial design + 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757B0-67D2-4D91-8332-7C1D578E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55C7"/>
                </a:solidFill>
              </a:defRPr>
            </a:pPr>
            <a:r>
              <a:rPr sz="1500" b="1">
                <a:solidFill>
                  <a:srgbClr val="EC55C7"/>
                </a:solidFill>
              </a:rPr>
              <a:t>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A63B7-2F32-42AA-8E8E-7DDE28B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9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7F4"/>
                </a:solidFill>
              </a:defRPr>
            </a:pPr>
            <a:r>
              <a:rPr sz="1350" b="0">
                <a:solidFill>
                  <a:srgbClr val="F8F7F4"/>
                </a:solidFill>
              </a:rPr>
              <a:t>Customer validation + pilots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A80A5-3012-4B47-87B7-A034BED0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12-month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4D043-464B-4D84-A1C3-D35E9F83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7F4"/>
                </a:solidFill>
              </a:defRPr>
            </a:pPr>
            <a:r>
              <a:rPr sz="1725" b="0">
                <a:solidFill>
                  <a:srgbClr val="F8F7F4"/>
                </a:solidFill>
              </a:rPr>
              <a:t>Validated alpha • protected IP position • manufacturing path • launch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E2673-8192-4898-8DEA-B405DC64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19500-2995-470A-9DDC-37583A4D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0886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4A3E62-8019-4FD3-BD50-A2601823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6929D"/>
                </a:solidFill>
              </a:defRPr>
            </a:pPr>
            <a:r>
              <a:rPr sz="82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D02F3-2724-47DE-9598-3076E46F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09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8F7F4"/>
                </a:solidFill>
              </a:defRPr>
            </a:pPr>
            <a:r>
              <a:rPr sz="4500" b="0">
                <a:solidFill>
                  <a:srgbClr val="F8F7F4"/>
                </a:solidFill>
              </a:rPr>
              <a:t>Eyewear is about to</a:t>
            </a:r>
          </a:p>
          <a:p xmlns:a="http://schemas.openxmlformats.org/drawingml/2006/main">
            <a:pPr algn="l">
              <a:defRPr sz="4500" b="0">
                <a:solidFill>
                  <a:srgbClr val="F8F7F4"/>
                </a:solidFill>
              </a:defRPr>
            </a:pPr>
            <a:r>
              <a:rPr sz="4500" b="0">
                <a:solidFill>
                  <a:srgbClr val="F8F7F4"/>
                </a:solidFill>
              </a:rPr>
              <a:t>become expressive.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EA12F-AF23-43EB-BFD0-055C8DF3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DFF5"/>
                </a:solidFill>
              </a:defRPr>
            </a:pPr>
            <a:r>
              <a:rPr sz="1875" b="0">
                <a:solidFill>
                  <a:srgbClr val="59DFF5"/>
                </a:solidFill>
              </a:rPr>
              <a:t>One frame. Every version of you.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01EC7-D64D-47D2-A5E5-1B07B64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D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057C6-D949-4A6B-B774-D197B6EE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B5CF6"/>
                </a:solidFill>
              </a:defRPr>
            </a:pPr>
            <a:r>
              <a:rPr sz="825" b="1">
                <a:solidFill>
                  <a:srgbClr val="8B5CF6"/>
                </a:solidFill>
              </a:rPr>
              <a:t>BUILD WITH 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C578A-E156-4741-B0F8-32467314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7F4"/>
                </a:solidFill>
              </a:defRPr>
            </a:pPr>
            <a:r>
              <a:rPr sz="1425" b="0">
                <a:solidFill>
                  <a:srgbClr val="F8F7F4"/>
                </a:solidFill>
              </a:rPr>
              <a:t>Materials • Eyewear • Engineering • Capital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BF912-5775-4811-BC06-9264E61C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SHADE SHIFTER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355B5-C2AF-406F-B5D7-CD024EC8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96929D"/>
                </a:solidFill>
              </a:defRPr>
            </a:pPr>
            <a:r>
              <a:rPr sz="675" b="1">
                <a:solidFill>
                  <a:srgbClr val="96929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9749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2026-08-04T23:46:49.1920000Z</dcterms:created>
  <dcterms:modified xsi:type="dcterms:W3CDTF">2026-08-04T23:46:49.1920000Z</dcterms:modified>
</coreProperties>
</file>